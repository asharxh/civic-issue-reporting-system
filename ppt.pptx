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sldIdLst>
    <p:sldId id="281" r:id="rId2"/>
    <p:sldId id="290" r:id="rId3"/>
    <p:sldId id="293" r:id="rId4"/>
    <p:sldId id="294" r:id="rId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7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MS PGothic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CIVIC ISSUES REPORTING SYSTEM</a:t>
            </a:r>
            <a:endParaRPr lang="en-US" sz="3600" b="1" dirty="0">
              <a:latin typeface="Times New Roman" panose="02020603050405020304" pitchFamily="18" charset="0"/>
              <a:ea typeface="MS PGothic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1012" y="1476863"/>
            <a:ext cx="11873239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  <a:cs typeface="Arial" panose="02080604020202020204" pitchFamily="34" charset="0"/>
              </a:rPr>
              <a:t>A crowdsourced web platform for reporting civic issues (potholes, garbage, lights, waterlogging) with geo-tagged media. AI classifies, prioritizes, and routes reports to authorities. Citizens track progress, validate others’ reports, and get live updates, while governments use dashboards, heatmaps, and analytics.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+mj-lt"/>
              <a:cs typeface="Arial" panose="0208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9773" y="2382218"/>
            <a:ext cx="4976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How It Helps:</a:t>
            </a:r>
          </a:p>
          <a:p>
            <a:r>
              <a:rPr lang="en-US" dirty="0"/>
              <a:t>- Real-time reporting speeds up issue detection.</a:t>
            </a:r>
          </a:p>
          <a:p>
            <a:r>
              <a:rPr lang="en-US" dirty="0"/>
              <a:t>- AI ensures urgent cases get priority.</a:t>
            </a:r>
          </a:p>
          <a:p>
            <a:r>
              <a:rPr lang="en-US" dirty="0"/>
              <a:t>- Transparent status builds accountability.</a:t>
            </a:r>
          </a:p>
          <a:p>
            <a:r>
              <a:rPr lang="en-US" dirty="0"/>
              <a:t>- Community validation cuts duplicates/fakes.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773" y="3823015"/>
            <a:ext cx="62472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Innovation &amp; Uniqueness:</a:t>
            </a:r>
          </a:p>
          <a:p>
            <a:r>
              <a:rPr lang="en-US" dirty="0"/>
              <a:t>- Crowdsourced + AI-powered governance.</a:t>
            </a:r>
          </a:p>
          <a:p>
            <a:r>
              <a:rPr lang="en-US" dirty="0"/>
              <a:t>- Geo-visuals to identify hotspots.</a:t>
            </a:r>
          </a:p>
          <a:p>
            <a:r>
              <a:rPr lang="en-US" dirty="0"/>
              <a:t>- Blockchain-ready transparency.</a:t>
            </a:r>
          </a:p>
          <a:p>
            <a:r>
              <a:rPr lang="en-US" dirty="0"/>
              <a:t>- Gamified citizen engagement.</a:t>
            </a:r>
          </a:p>
          <a:p>
            <a:r>
              <a:rPr lang="en-US" dirty="0"/>
              <a:t>- IoT integration for auto-reporting.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22" y="2603415"/>
            <a:ext cx="6720878" cy="31547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7BD707-03ED-74C7-2898-5CD1C5264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033" y="172347"/>
            <a:ext cx="2588966" cy="776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5D0D94-7359-4E26-2F45-5F9551F4146B}"/>
              </a:ext>
            </a:extLst>
          </p:cNvPr>
          <p:cNvSpPr txBox="1"/>
          <p:nvPr/>
        </p:nvSpPr>
        <p:spPr>
          <a:xfrm>
            <a:off x="2865485" y="6452491"/>
            <a:ext cx="6120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  <a:latin typeface="Garamond" panose="02020404030301010803" pitchFamily="18" charset="0"/>
              </a:rPr>
              <a:t>YOUTH CODER HACK 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_- visual selection (1)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520" y="1283335"/>
            <a:ext cx="5467350" cy="4291330"/>
          </a:xfrm>
          <a:prstGeom prst="rect">
            <a:avLst/>
          </a:prstGeom>
        </p:spPr>
      </p:pic>
      <p:pic>
        <p:nvPicPr>
          <p:cNvPr id="13" name="Picture 12" descr="Gemini_Generated_Image_f1xtn0f1xtn0f1xt-Photo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65" y="1283335"/>
            <a:ext cx="5545455" cy="42913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015BD0-61DF-2107-E495-6BF505FC5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580" y="172347"/>
            <a:ext cx="3212419" cy="9637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6DDF62-0C81-2C44-93D5-8241147D2DD2}"/>
              </a:ext>
            </a:extLst>
          </p:cNvPr>
          <p:cNvSpPr txBox="1"/>
          <p:nvPr/>
        </p:nvSpPr>
        <p:spPr>
          <a:xfrm>
            <a:off x="2865485" y="6452491"/>
            <a:ext cx="6120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  <a:latin typeface="Garamond" panose="02020404030301010803" pitchFamily="18" charset="0"/>
              </a:rPr>
              <a:t>YOUTH CODER HACK 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5846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6066" y="1496147"/>
            <a:ext cx="11735934" cy="52322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cs typeface="Arial" panose="02080604020202020204" pitchFamily="34" charset="0"/>
              </a:rPr>
              <a:t>Feasibility</a:t>
            </a:r>
            <a:r>
              <a:rPr lang="en-US" b="1" noProof="0" dirty="0">
                <a:solidFill>
                  <a:schemeClr val="accent6">
                    <a:lumMod val="75000"/>
                  </a:schemeClr>
                </a:solidFill>
                <a:latin typeface="+mj-lt"/>
                <a:cs typeface="Arial" panose="02080604020202020204" pitchFamily="34" charset="0"/>
              </a:rPr>
              <a:t> of the Idea : 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noProof="0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Digital Foundation 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Government Support 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noProof="0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Market Opportunity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itchFamily="1" charset="-128"/>
                <a:cs typeface="Arial" panose="02080604020202020204" pitchFamily="34" charset="0"/>
              </a:rPr>
              <a:t>                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Arial" panose="02080604020202020204" pitchFamily="34" charset="0"/>
              </a:rPr>
              <a:t>Potential challenges and risks 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Digital Divide Exclusion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Cybersecurity Threats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User Adoption Crisis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dirty="0">
              <a:solidFill>
                <a:prstClr val="black"/>
              </a:solidFill>
              <a:latin typeface="+mj-lt"/>
              <a:cs typeface="Arial" panose="0208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ea typeface="MS PGothic" pitchFamily="1" charset="-128"/>
                <a:cs typeface="Arial" panose="02080604020202020204" pitchFamily="34" charset="0"/>
              </a:rPr>
              <a:t>Strategies</a:t>
            </a:r>
            <a:r>
              <a:rPr kumimoji="0" lang="en-US" b="1" i="0" u="none" strike="noStrike" kern="1200" cap="none" spc="0" normalizeH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ea typeface="MS PGothic" pitchFamily="1" charset="-128"/>
                <a:cs typeface="Arial" panose="02080604020202020204" pitchFamily="34" charset="0"/>
              </a:rPr>
              <a:t> for overcoming these challenges 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kumimoji="0" lang="en-US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Arial" panose="02080604020202020204" pitchFamily="34" charset="0"/>
              </a:rPr>
              <a:t>Digital Inclusion Bridge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Cybersecurity (Zero - trust Architecture , OWASP MASVS)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User Adoption (Simplified Registration, Multi-Channel Accessibility , Continuous Improvement)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+mj-lt"/>
              <a:cs typeface="Arial" panose="0208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dirty="0">
                <a:solidFill>
                  <a:prstClr val="black"/>
                </a:solidFill>
                <a:latin typeface="+mj-lt"/>
                <a:cs typeface="Arial" panose="02080604020202020204" pitchFamily="34" charset="0"/>
              </a:rPr>
              <a:t>  </a:t>
            </a:r>
            <a:r>
              <a:rPr kumimoji="0" lang="en-US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Arial" panose="02080604020202020204" pitchFamily="34" charset="0"/>
              </a:rPr>
              <a:t>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endParaRPr kumimoji="0" lang="en-US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MS PGothic" pitchFamily="1" charset="-128"/>
              <a:cs typeface="Arial" panose="0208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+mj-lt"/>
              <a:cs typeface="Arial" panose="0208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283" y="1580737"/>
            <a:ext cx="6400184" cy="30987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CADA6B-64E9-8A4D-82A5-AB5854C47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5782" y="213532"/>
            <a:ext cx="2570018" cy="771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0435C4-697B-12AF-3E77-0F743A750770}"/>
              </a:ext>
            </a:extLst>
          </p:cNvPr>
          <p:cNvSpPr txBox="1"/>
          <p:nvPr/>
        </p:nvSpPr>
        <p:spPr>
          <a:xfrm>
            <a:off x="2865485" y="6452491"/>
            <a:ext cx="6120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  <a:latin typeface="Garamond" panose="02020404030301010803" pitchFamily="18" charset="0"/>
              </a:rPr>
              <a:t>YOUTH CODER HACK 2025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itchFamily="1" charset="-128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6943" y="1260788"/>
            <a:ext cx="11510514" cy="5078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ea typeface="MS PGothic" pitchFamily="1" charset="-128"/>
                <a:cs typeface="Arial" panose="02080604020202020204" pitchFamily="34" charset="0"/>
              </a:rPr>
              <a:t>Potential impact on the target audience :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dirty="0">
                <a:latin typeface="+mj-lt"/>
                <a:cs typeface="Arial" panose="02080604020202020204" pitchFamily="34" charset="0"/>
              </a:rPr>
              <a:t>Drives democratic participation by equipping citizens with multi-channel reporting tools and public accountability mechanisms, giving them a direct and traceable voice in municipal operations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MS PGothic" pitchFamily="1" charset="-128"/>
              <a:cs typeface="Arial" panose="0208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Arial" panose="02080604020202020204" pitchFamily="34" charset="0"/>
              </a:rPr>
              <a:t>Benefits of the solution 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 panose="02080604020202020204" pitchFamily="34" charset="0"/>
              </a:rPr>
              <a:t>Social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 panose="02080604020202020204" pitchFamily="34" charset="0"/>
              </a:rPr>
              <a:t> 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dirty="0">
                <a:latin typeface="+mj-lt"/>
                <a:cs typeface="Arial" panose="02080604020202020204" pitchFamily="34" charset="0"/>
              </a:rPr>
              <a:t>Civic Responsibility , Social Cohesion , Accountability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cs typeface="Arial" panose="0208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 panose="02080604020202020204" pitchFamily="34" charset="0"/>
              </a:rPr>
              <a:t>Economic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 panose="02080604020202020204" pitchFamily="34" charset="0"/>
              </a:rPr>
              <a:t> :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dirty="0">
                <a:latin typeface="+mj-lt"/>
                <a:cs typeface="Arial" panose="02080604020202020204" pitchFamily="34" charset="0"/>
              </a:rPr>
              <a:t>Municipal Operation Efficiency , Urban Development ,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dirty="0">
                <a:latin typeface="+mj-lt"/>
                <a:cs typeface="Arial" panose="02080604020202020204" pitchFamily="34" charset="0"/>
              </a:rPr>
              <a:t>Revenue Enhancement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cs typeface="Arial" panose="0208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 panose="02080604020202020204" pitchFamily="34" charset="0"/>
              </a:rPr>
              <a:t>Environment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 panose="02080604020202020204" pitchFamily="34" charset="0"/>
              </a:rPr>
              <a:t> :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dirty="0">
                <a:latin typeface="+mj-lt"/>
                <a:cs typeface="Arial" panose="02080604020202020204" pitchFamily="34" charset="0"/>
              </a:rPr>
              <a:t>Waste Management , Eco Water Management ,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dirty="0">
                <a:latin typeface="+mj-lt"/>
                <a:cs typeface="Arial" panose="02080604020202020204" pitchFamily="34" charset="0"/>
              </a:rPr>
              <a:t>Sustainable Environment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cs typeface="Arial" panose="0208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cs typeface="Arial" panose="0208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dirty="0">
              <a:solidFill>
                <a:prstClr val="black"/>
              </a:solidFill>
              <a:latin typeface="+mj-lt"/>
              <a:cs typeface="Arial" panose="0208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39101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364" y="2175813"/>
            <a:ext cx="3510950" cy="34213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5507D85-6B15-4920-C2A7-B3D7F147F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580" y="172347"/>
            <a:ext cx="3212419" cy="9637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FA096E-E05B-2C41-9163-C732D2BE783A}"/>
              </a:ext>
            </a:extLst>
          </p:cNvPr>
          <p:cNvSpPr txBox="1"/>
          <p:nvPr/>
        </p:nvSpPr>
        <p:spPr>
          <a:xfrm>
            <a:off x="2865485" y="6452491"/>
            <a:ext cx="6120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  <a:latin typeface="Garamond" panose="02020404030301010803" pitchFamily="18" charset="0"/>
              </a:rPr>
              <a:t>YOUTH CODER HACK 2025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279</Words>
  <Application>Microsoft Office PowerPoint</Application>
  <PresentationFormat>Widescreen</PresentationFormat>
  <Paragraphs>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CIVIC ISSUES REPORTING SYSTEM</vt:lpstr>
      <vt:lpstr>APPROACH</vt:lpstr>
      <vt:lpstr>FEASIBILITY AND VIABILITY</vt:lpstr>
      <vt:lpstr>BENEFITS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Ashar Arif</cp:lastModifiedBy>
  <cp:revision>182</cp:revision>
  <dcterms:created xsi:type="dcterms:W3CDTF">2025-10-01T09:17:02Z</dcterms:created>
  <dcterms:modified xsi:type="dcterms:W3CDTF">2025-10-12T06:06:20Z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